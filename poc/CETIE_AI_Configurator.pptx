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07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9260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Configurator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11480" y="29718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electrical panel pre-configuration — from customer request to bill of materials in seconds.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CETIE  ·  Technical Pre-Configuration System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Pre-Configuration Process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Time-consuming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476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manually browse 2 600+ components to build each configuration.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Knowledge-intensive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476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right enclosure and components requires deep product expertise.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97180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4" name="Shape 12"/>
          <p:cNvSpPr/>
          <p:nvPr/>
        </p:nvSpPr>
        <p:spPr>
          <a:xfrm>
            <a:off x="411480" y="297180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5" name="Text 13"/>
          <p:cNvSpPr/>
          <p:nvPr/>
        </p:nvSpPr>
        <p:spPr>
          <a:xfrm>
            <a:off x="59436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Repetitive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4107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projects are re-created from scratch each time without leveraging past experience.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9" name="Text 17"/>
          <p:cNvSpPr/>
          <p:nvPr/>
        </p:nvSpPr>
        <p:spPr>
          <a:xfrm>
            <a:off x="493776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Documentation overhead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4107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BoM, wiring estimates, and pricing takes additional manual effort.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Request to Configuration in One Step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CETIE AI Configurator combines a large language model with your company's historical project database to instantly generate accurate, validated pre-configurations — and it gets smarter with every correction.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2377440"/>
            <a:ext cx="1389888" cy="1005840"/>
          </a:xfrm>
          <a:prstGeom prst="rect">
            <a:avLst/>
          </a:prstGeom>
          <a:solidFill>
            <a:srgbClr val="13205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7" name="Shape 5"/>
          <p:cNvSpPr/>
          <p:nvPr/>
        </p:nvSpPr>
        <p:spPr>
          <a:xfrm>
            <a:off x="877824" y="218541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8" name="Text 6"/>
          <p:cNvSpPr/>
          <p:nvPr/>
        </p:nvSpPr>
        <p:spPr>
          <a:xfrm>
            <a:off x="877824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description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73936" y="2880360"/>
            <a:ext cx="31089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2" name="Shape 10"/>
          <p:cNvSpPr/>
          <p:nvPr/>
        </p:nvSpPr>
        <p:spPr>
          <a:xfrm>
            <a:off x="2121408" y="2377440"/>
            <a:ext cx="1389888" cy="1005840"/>
          </a:xfrm>
          <a:prstGeom prst="rect">
            <a:avLst/>
          </a:prstGeom>
          <a:solidFill>
            <a:srgbClr val="13205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3" name="Shape 11"/>
          <p:cNvSpPr/>
          <p:nvPr/>
        </p:nvSpPr>
        <p:spPr>
          <a:xfrm>
            <a:off x="2651760" y="218541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4" name="Text 12"/>
          <p:cNvSpPr/>
          <p:nvPr/>
        </p:nvSpPr>
        <p:spPr>
          <a:xfrm>
            <a:off x="265176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85416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85416" y="29992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need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47872" y="2880360"/>
            <a:ext cx="31089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8" name="Shape 16"/>
          <p:cNvSpPr/>
          <p:nvPr/>
        </p:nvSpPr>
        <p:spPr>
          <a:xfrm>
            <a:off x="3895344" y="2377440"/>
            <a:ext cx="1389888" cy="1005840"/>
          </a:xfrm>
          <a:prstGeom prst="rect">
            <a:avLst/>
          </a:prstGeom>
          <a:solidFill>
            <a:srgbClr val="13205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9" name="Shape 17"/>
          <p:cNvSpPr/>
          <p:nvPr/>
        </p:nvSpPr>
        <p:spPr>
          <a:xfrm>
            <a:off x="4425696" y="218541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0" name="Text 18"/>
          <p:cNvSpPr/>
          <p:nvPr/>
        </p:nvSpPr>
        <p:spPr>
          <a:xfrm>
            <a:off x="4425696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59352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59352" y="29992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from experience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21808" y="2880360"/>
            <a:ext cx="31089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4" name="Shape 22"/>
          <p:cNvSpPr/>
          <p:nvPr/>
        </p:nvSpPr>
        <p:spPr>
          <a:xfrm>
            <a:off x="5669280" y="2377440"/>
            <a:ext cx="1389888" cy="1005840"/>
          </a:xfrm>
          <a:prstGeom prst="rect">
            <a:avLst/>
          </a:prstGeom>
          <a:solidFill>
            <a:srgbClr val="13205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25" name="Shape 23"/>
          <p:cNvSpPr/>
          <p:nvPr/>
        </p:nvSpPr>
        <p:spPr>
          <a:xfrm>
            <a:off x="6199632" y="218541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6" name="Text 24"/>
          <p:cNvSpPr/>
          <p:nvPr/>
        </p:nvSpPr>
        <p:spPr>
          <a:xfrm>
            <a:off x="6199632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33288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33288" y="29992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+ wiring hours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95744" y="2880360"/>
            <a:ext cx="310896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0" name="Shape 28"/>
          <p:cNvSpPr/>
          <p:nvPr/>
        </p:nvSpPr>
        <p:spPr>
          <a:xfrm>
            <a:off x="7443216" y="2377440"/>
            <a:ext cx="1389888" cy="1005840"/>
          </a:xfrm>
          <a:prstGeom prst="rect">
            <a:avLst/>
          </a:prstGeom>
          <a:solidFill>
            <a:srgbClr val="132050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31" name="Shape 29"/>
          <p:cNvSpPr/>
          <p:nvPr/>
        </p:nvSpPr>
        <p:spPr>
          <a:xfrm>
            <a:off x="7973568" y="218541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2" name="Text 30"/>
          <p:cNvSpPr/>
          <p:nvPr/>
        </p:nvSpPr>
        <p:spPr>
          <a:xfrm>
            <a:off x="7973568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07224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Learning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07224" y="299923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 time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37490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Feedback loop — every correction improves future configurations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  ·  STEP 1 &amp;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Request — AI Does the Rest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64008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7" name="Shape 5"/>
          <p:cNvSpPr/>
          <p:nvPr/>
        </p:nvSpPr>
        <p:spPr>
          <a:xfrm>
            <a:off x="594360" y="1399497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8" name="Text 6"/>
          <p:cNvSpPr/>
          <p:nvPr/>
        </p:nvSpPr>
        <p:spPr>
          <a:xfrm>
            <a:off x="594360" y="139949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4909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Customer Request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365760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1" name="Text 9"/>
          <p:cNvSpPr/>
          <p:nvPr/>
        </p:nvSpPr>
        <p:spPr>
          <a:xfrm>
            <a:off x="685800" y="2084832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"Armoire commande 2 pompes relevage eaux usées 7.5 kW, protection IP65, secteur industrie agro-alimentaire"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Any format  ·  Plain text description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858768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4" name="Text 12"/>
          <p:cNvSpPr/>
          <p:nvPr/>
        </p:nvSpPr>
        <p:spPr>
          <a:xfrm>
            <a:off x="594360" y="3858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Configuration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64008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7" name="Shape 15"/>
          <p:cNvSpPr/>
          <p:nvPr/>
        </p:nvSpPr>
        <p:spPr>
          <a:xfrm>
            <a:off x="4892040" y="1399497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8" name="Text 16"/>
          <p:cNvSpPr/>
          <p:nvPr/>
        </p:nvSpPr>
        <p:spPr>
          <a:xfrm>
            <a:off x="4892040" y="139949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04688" y="14909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&amp; Clarifies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993392"/>
            <a:ext cx="374904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1" name="Text 19"/>
          <p:cNvSpPr/>
          <p:nvPr/>
        </p:nvSpPr>
        <p:spPr>
          <a:xfrm>
            <a:off x="4892040" y="20299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029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 enclosure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468880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4" name="Text 22"/>
          <p:cNvSpPr/>
          <p:nvPr/>
        </p:nvSpPr>
        <p:spPr>
          <a:xfrm>
            <a:off x="4892040" y="25054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5054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kW × 2 motors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2944368"/>
            <a:ext cx="374904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7" name="Text 25"/>
          <p:cNvSpPr/>
          <p:nvPr/>
        </p:nvSpPr>
        <p:spPr>
          <a:xfrm>
            <a:off x="4892040" y="29809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29809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419856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0" name="Text 28"/>
          <p:cNvSpPr/>
          <p:nvPr/>
        </p:nvSpPr>
        <p:spPr>
          <a:xfrm>
            <a:off x="4892040" y="34564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4564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Agri-food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3895344"/>
            <a:ext cx="3749040" cy="38404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3" name="Text 31"/>
          <p:cNvSpPr/>
          <p:nvPr/>
        </p:nvSpPr>
        <p:spPr>
          <a:xfrm>
            <a:off x="4892040" y="3931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931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pumping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44348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If critical information is missing, the AI asks targeted clarification questions before proceeding.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  ·  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Generated Automatically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6400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7" name="Text 5"/>
          <p:cNvSpPr/>
          <p:nvPr/>
        </p:nvSpPr>
        <p:spPr>
          <a:xfrm>
            <a:off x="621792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Selected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9019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800×600×300 IP65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Polyester — 151 options evaluated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25968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fit for 2 × 7.5 kW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64008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2" name="Text 10"/>
          <p:cNvSpPr/>
          <p:nvPr/>
        </p:nvSpPr>
        <p:spPr>
          <a:xfrm>
            <a:off x="3410712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Estimates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0712" y="1901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Wiring hours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10712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Automation hrs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2585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760720" y="1417320"/>
            <a:ext cx="2971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8" name="Shape 16"/>
          <p:cNvSpPr/>
          <p:nvPr/>
        </p:nvSpPr>
        <p:spPr>
          <a:xfrm>
            <a:off x="5760720" y="141732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9" name="Text 17"/>
          <p:cNvSpPr/>
          <p:nvPr/>
        </p:nvSpPr>
        <p:spPr>
          <a:xfrm>
            <a:off x="5971032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71032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Circuit breaker 3P 25A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71032" y="2194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Contactor LC1D18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71032" y="2468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Thermal relay LR2D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71032" y="2743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IP65 cable glands ×6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246120"/>
            <a:ext cx="8321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25" name="Shape 23"/>
          <p:cNvSpPr/>
          <p:nvPr/>
        </p:nvSpPr>
        <p:spPr>
          <a:xfrm>
            <a:off x="411480" y="3246120"/>
            <a:ext cx="83210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6" name="Text 24"/>
          <p:cNvSpPr/>
          <p:nvPr/>
        </p:nvSpPr>
        <p:spPr>
          <a:xfrm>
            <a:off x="502920" y="3246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40280" y="32461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06240" y="3246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0" y="3246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2376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(€)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593592"/>
            <a:ext cx="8321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2" name="Text 30"/>
          <p:cNvSpPr/>
          <p:nvPr/>
        </p:nvSpPr>
        <p:spPr>
          <a:xfrm>
            <a:off x="502920" y="3621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GV3ME20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40280" y="36210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circuit-breaker 18-25A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06240" y="3621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protection 7.5kW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3621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23760" y="3621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3922776"/>
            <a:ext cx="8321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8" name="Text 36"/>
          <p:cNvSpPr/>
          <p:nvPr/>
        </p:nvSpPr>
        <p:spPr>
          <a:xfrm>
            <a:off x="50292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LC1D18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40280" y="39502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3-pole contactor 18A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0624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start/stop control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0" y="3950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23760" y="3950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4251960"/>
            <a:ext cx="8321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44" name="Text 42"/>
          <p:cNvSpPr/>
          <p:nvPr/>
        </p:nvSpPr>
        <p:spPr>
          <a:xfrm>
            <a:off x="502920" y="4279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LR2D13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40280" y="4279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overload relay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06240" y="4279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Overcurrent protection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43600" y="4279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23760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  ·  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5778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Similar Past Projects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5362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"🔗 Context" tab on the right panel to see the most similar past CETIE projects — with their similarity score, sector, and solution details.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58200" y="594360"/>
            <a:ext cx="640080" cy="4297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7" name="Text 5"/>
          <p:cNvSpPr/>
          <p:nvPr/>
        </p:nvSpPr>
        <p:spPr>
          <a:xfrm>
            <a:off x="8458200" y="1051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20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58200" y="3063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594360"/>
            <a:ext cx="2377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1" name="Shape 9"/>
          <p:cNvSpPr/>
          <p:nvPr/>
        </p:nvSpPr>
        <p:spPr>
          <a:xfrm>
            <a:off x="6035040" y="594360"/>
            <a:ext cx="237744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2" name="Text 10"/>
          <p:cNvSpPr/>
          <p:nvPr/>
        </p:nvSpPr>
        <p:spPr>
          <a:xfrm>
            <a:off x="6080760" y="594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Similar Past Projects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1556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5" name="Text 13"/>
          <p:cNvSpPr/>
          <p:nvPr/>
        </p:nvSpPr>
        <p:spPr>
          <a:xfrm>
            <a:off x="617220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3408" y="11704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control 2×7.5kW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93408" y="14813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Agri-food  ·  12h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221284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9" name="Shape 17"/>
          <p:cNvSpPr/>
          <p:nvPr/>
        </p:nvSpPr>
        <p:spPr>
          <a:xfrm>
            <a:off x="6172200" y="228600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0" name="Text 18"/>
          <p:cNvSpPr/>
          <p:nvPr/>
        </p:nvSpPr>
        <p:spPr>
          <a:xfrm>
            <a:off x="617220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93408" y="2267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panel IP65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93408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 ·  16h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331012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4" name="Shape 22"/>
          <p:cNvSpPr/>
          <p:nvPr/>
        </p:nvSpPr>
        <p:spPr>
          <a:xfrm>
            <a:off x="6172200" y="3383280"/>
            <a:ext cx="475488" cy="47548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5" name="Text 23"/>
          <p:cNvSpPr/>
          <p:nvPr/>
        </p:nvSpPr>
        <p:spPr>
          <a:xfrm>
            <a:off x="617220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93408" y="3364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cabinet 15kW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93408" y="36758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 ·  18h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1417320"/>
            <a:ext cx="5440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29" name="Shape 27"/>
          <p:cNvSpPr/>
          <p:nvPr/>
        </p:nvSpPr>
        <p:spPr>
          <a:xfrm>
            <a:off x="411480" y="1417320"/>
            <a:ext cx="6400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0" name="Text 28"/>
          <p:cNvSpPr/>
          <p:nvPr/>
        </p:nvSpPr>
        <p:spPr>
          <a:xfrm>
            <a:off x="594360" y="148132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Scores show how closely a past project matches the current request — green means highly similar.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2240280"/>
            <a:ext cx="5440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32" name="Shape 30"/>
          <p:cNvSpPr/>
          <p:nvPr/>
        </p:nvSpPr>
        <p:spPr>
          <a:xfrm>
            <a:off x="411480" y="2240280"/>
            <a:ext cx="6400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3" name="Text 31"/>
          <p:cNvSpPr/>
          <p:nvPr/>
        </p:nvSpPr>
        <p:spPr>
          <a:xfrm>
            <a:off x="594360" y="23042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Compare your estimated wiring hours against similar completed jobs to validate the estimate.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3063240"/>
            <a:ext cx="5440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35" name="Shape 33"/>
          <p:cNvSpPr/>
          <p:nvPr/>
        </p:nvSpPr>
        <p:spPr>
          <a:xfrm>
            <a:off x="411480" y="3063240"/>
            <a:ext cx="6400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6" name="Text 34"/>
          <p:cNvSpPr/>
          <p:nvPr/>
        </p:nvSpPr>
        <p:spPr>
          <a:xfrm>
            <a:off x="594360" y="312724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See the sector, product type, and brief solution summary for context.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3886200"/>
            <a:ext cx="5440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38" name="Shape 36"/>
          <p:cNvSpPr/>
          <p:nvPr/>
        </p:nvSpPr>
        <p:spPr>
          <a:xfrm>
            <a:off x="411480" y="3886200"/>
            <a:ext cx="6400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9" name="Text 37"/>
          <p:cNvSpPr/>
          <p:nvPr/>
        </p:nvSpPr>
        <p:spPr>
          <a:xfrm>
            <a:off x="594360" y="395020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Powered by semantic search across all historical CETIE quotes — not just keyword matching.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  ·  STEP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— The System Learns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743200" cy="3246120"/>
          </a:xfrm>
          <a:prstGeom prst="rect">
            <a:avLst/>
          </a:prstGeom>
          <a:solidFill>
            <a:srgbClr val="132050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7432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Looks Good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Click 💬 Feedback in the right panel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Select "Looks Good"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2369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System records this as a positive example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7673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Future similar requests benefit from this validation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1417320"/>
            <a:ext cx="2743200" cy="3246120"/>
          </a:xfrm>
          <a:prstGeom prst="rect">
            <a:avLst/>
          </a:prstGeom>
          <a:solidFill>
            <a:srgbClr val="132050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4" name="Shape 12"/>
          <p:cNvSpPr/>
          <p:nvPr/>
        </p:nvSpPr>
        <p:spPr>
          <a:xfrm>
            <a:off x="3337560" y="1417320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5" name="Text 13"/>
          <p:cNvSpPr/>
          <p:nvPr/>
        </p:nvSpPr>
        <p:spPr>
          <a:xfrm>
            <a:off x="34747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77640" y="1572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Correction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217627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Select "Needs Correction"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27066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Describe what was wrong or what you changed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32369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Correction is stored and injected into future prompts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0" y="37673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Same mistake won't happen again for similar requests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417320"/>
            <a:ext cx="2743200" cy="3246120"/>
          </a:xfrm>
          <a:prstGeom prst="rect">
            <a:avLst/>
          </a:prstGeom>
          <a:solidFill>
            <a:srgbClr val="13205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22" name="Shape 20"/>
          <p:cNvSpPr/>
          <p:nvPr/>
        </p:nvSpPr>
        <p:spPr>
          <a:xfrm>
            <a:off x="6263640" y="141732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3" name="Text 21"/>
          <p:cNvSpPr/>
          <p:nvPr/>
        </p:nvSpPr>
        <p:spPr>
          <a:xfrm>
            <a:off x="6400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03720" y="1572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 Permanent Rule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217627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From the 📋 Rules tab, view all learned rules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27066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Activate or deactivate rules at any time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32369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Permanent rules apply to EVERY future configuration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37673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Example: 'Always add a main switch for 3-phase 400V'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45720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makes the AI smarter for your team's specific needs and standards.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— Key Components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64008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Language Model (AI)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reads the customer request, extracts structured data, chooses components from the CETIE catalogue, estimates wiring time, and generates justifications — all in one pass.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44752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0" name="Shape 8"/>
          <p:cNvSpPr/>
          <p:nvPr/>
        </p:nvSpPr>
        <p:spPr>
          <a:xfrm>
            <a:off x="4663440" y="1444752"/>
            <a:ext cx="64008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1" name="Text 9"/>
          <p:cNvSpPr/>
          <p:nvPr/>
        </p:nvSpPr>
        <p:spPr>
          <a:xfrm>
            <a:off x="4846320" y="1536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CETIE Component Database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2 661 components (BDD_Blocs) and 151 enclosures (BDD_Armoires) exported from your Excel files. The AI selects from this real catalogue — no hallucinated products.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5" name="Text 13"/>
          <p:cNvSpPr/>
          <p:nvPr/>
        </p:nvSpPr>
        <p:spPr>
          <a:xfrm>
            <a:off x="59436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Semantic Project Search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35387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quotes are indexed using vector embeddings (OpenAI). When a new request arrives, the system instantly finds the 10 most similar past projects to provide context and validation.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6400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9" name="Text 17"/>
          <p:cNvSpPr/>
          <p:nvPr/>
        </p:nvSpPr>
        <p:spPr>
          <a:xfrm>
            <a:off x="484632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Feedback &amp; Rules Engine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35387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or rule added by your engineers is stored locally and injected into the next AI prompt. No retraining required — the system adapts in real time.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Lightweight, Ready to 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2606040" cy="1444752"/>
          </a:xfrm>
          <a:prstGeom prst="rect">
            <a:avLst/>
          </a:prstGeom>
          <a:solidFill>
            <a:srgbClr val="132050"/>
          </a:solidFill>
          <a:ln w="12700">
            <a:solidFill>
              <a:srgbClr val="334D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Runs locally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56816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 on any PC. No cloud dependency for the UI or database — just API calls to AI services when needed.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481328"/>
            <a:ext cx="2606040" cy="1444752"/>
          </a:xfrm>
          <a:prstGeom prst="rect">
            <a:avLst/>
          </a:prstGeom>
          <a:solidFill>
            <a:srgbClr val="132050"/>
          </a:solidFill>
          <a:ln w="12700">
            <a:solidFill>
              <a:srgbClr val="334D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9" name="Text 7"/>
          <p:cNvSpPr/>
          <p:nvPr/>
        </p:nvSpPr>
        <p:spPr>
          <a:xfrm>
            <a:off x="3383280" y="1572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Portable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956816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application (code + component database + historical project index) fits in a single ~10 MB zip file.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1481328"/>
            <a:ext cx="2606040" cy="1444752"/>
          </a:xfrm>
          <a:prstGeom prst="rect">
            <a:avLst/>
          </a:prstGeom>
          <a:solidFill>
            <a:srgbClr val="132050"/>
          </a:solidFill>
          <a:ln w="12700">
            <a:solidFill>
              <a:srgbClr val="334D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2" name="Text 10"/>
          <p:cNvSpPr/>
          <p:nvPr/>
        </p:nvSpPr>
        <p:spPr>
          <a:xfrm>
            <a:off x="6217920" y="1572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API keys required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956816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member needs their own OpenAI and Anthropic API keys. These stay in a local .env file — never committed to source control.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127248"/>
            <a:ext cx="2606040" cy="1444752"/>
          </a:xfrm>
          <a:prstGeom prst="rect">
            <a:avLst/>
          </a:prstGeom>
          <a:solidFill>
            <a:srgbClr val="132050"/>
          </a:solidFill>
          <a:ln w="12700">
            <a:solidFill>
              <a:srgbClr val="334D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Persistent learning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02736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rules are stored in simple JSON files locally. Share the zip with your coworker and the learned rules travel with 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3127248"/>
            <a:ext cx="2606040" cy="1444752"/>
          </a:xfrm>
          <a:prstGeom prst="rect">
            <a:avLst/>
          </a:prstGeom>
          <a:solidFill>
            <a:srgbClr val="132050"/>
          </a:solidFill>
          <a:ln w="12700">
            <a:solidFill>
              <a:srgbClr val="334D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8" name="Text 16"/>
          <p:cNvSpPr/>
          <p:nvPr/>
        </p:nvSpPr>
        <p:spPr>
          <a:xfrm>
            <a:off x="3383280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Data stays internal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602736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request text is sent to AI APIs for processing — no other data leaves your machine. Historical quotes are stored locally.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3127248"/>
            <a:ext cx="2606040" cy="1444752"/>
          </a:xfrm>
          <a:prstGeom prst="rect">
            <a:avLst/>
          </a:prstGeom>
          <a:solidFill>
            <a:srgbClr val="132050"/>
          </a:solidFill>
          <a:ln w="12700">
            <a:solidFill>
              <a:srgbClr val="334D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21" name="Text 19"/>
          <p:cNvSpPr/>
          <p:nvPr/>
        </p:nvSpPr>
        <p:spPr>
          <a:xfrm>
            <a:off x="6217920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Setup in minutes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602736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requirements · add .env · python app.py — that's it.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Delivers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30–60 min manually)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743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1" name="Text 9"/>
          <p:cNvSpPr/>
          <p:nvPr/>
        </p:nvSpPr>
        <p:spPr>
          <a:xfrm>
            <a:off x="3429000" y="15361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2 600+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29000" y="22128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components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up-to-date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L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5" name="Text 13"/>
          <p:cNvSpPr/>
          <p:nvPr/>
        </p:nvSpPr>
        <p:spPr>
          <a:xfrm>
            <a:off x="6355080" y="15361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55080" y="22128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past projects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automatically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182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8" name="Text 16"/>
          <p:cNvSpPr/>
          <p:nvPr/>
        </p:nvSpPr>
        <p:spPr>
          <a:xfrm>
            <a:off x="685800" y="3127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focus on engineering — not catalogue browsing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6393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0" name="Text 18"/>
          <p:cNvSpPr/>
          <p:nvPr/>
        </p:nvSpPr>
        <p:spPr>
          <a:xfrm>
            <a:off x="685800" y="3584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improve automatically from team corrections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0965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2" name="Text 20"/>
          <p:cNvSpPr/>
          <p:nvPr/>
        </p:nvSpPr>
        <p:spPr>
          <a:xfrm>
            <a:off x="685800" y="4041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members produce expert-level pre-configs from day 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182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4" name="Text 22"/>
          <p:cNvSpPr/>
          <p:nvPr/>
        </p:nvSpPr>
        <p:spPr>
          <a:xfrm>
            <a:off x="4937760" y="3127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 references validated against the real CETIE catalogue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6393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6" name="Text 24"/>
          <p:cNvSpPr/>
          <p:nvPr/>
        </p:nvSpPr>
        <p:spPr>
          <a:xfrm>
            <a:off x="4937760" y="3584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and automation time estimates built into every output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40965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28" name="Text 26"/>
          <p:cNvSpPr/>
          <p:nvPr/>
        </p:nvSpPr>
        <p:spPr>
          <a:xfrm>
            <a:off x="4937760" y="4041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auditability: justifications for every component selection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1874520"/>
            <a:ext cx="502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9385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POC on representative CETIE requests and collect feedback from the engineering team.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560320"/>
            <a:ext cx="502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6243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the historical project database with additional annotated quotes to improve similarity search accuracy.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502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3101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component selection against recent orders and calibrate the wiring hour estimates.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931920"/>
            <a:ext cx="502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L"/>
          </a:p>
        </p:txBody>
      </p:sp>
      <p:sp>
        <p:nvSpPr>
          <p:cNvPr id="15" name="Text 13"/>
          <p:cNvSpPr/>
          <p:nvPr/>
        </p:nvSpPr>
        <p:spPr>
          <a:xfrm>
            <a:off x="4114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9959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permanent rules for CETIE standards (standards, preferred brands, mandatory safety devices).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CETIE  ·  AI Configurator POC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1139</Words>
  <Application>Microsoft Macintosh PowerPoint</Application>
  <PresentationFormat>On-screen Show (16:9)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CETIE AI Configurator</dc:title>
  <dc:subject>PptxGenJS Presentation</dc:subject>
  <dc:creator>CETIE</dc:creator>
  <cp:lastModifiedBy>Amir Badawi</cp:lastModifiedBy>
  <cp:revision>3</cp:revision>
  <dcterms:created xsi:type="dcterms:W3CDTF">2026-03-25T22:31:03Z</dcterms:created>
  <dcterms:modified xsi:type="dcterms:W3CDTF">2026-03-25T22:34:46Z</dcterms:modified>
</cp:coreProperties>
</file>